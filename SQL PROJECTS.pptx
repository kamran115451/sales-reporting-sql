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7" r:id="rId1"/>
  </p:sldMasterIdLst>
  <p:sldIdLst>
    <p:sldId id="256" r:id="rId2"/>
    <p:sldId id="259" r:id="rId3"/>
    <p:sldId id="257" r:id="rId4"/>
    <p:sldId id="258"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29" autoAdjust="0"/>
    <p:restoredTop sz="94660"/>
  </p:normalViewPr>
  <p:slideViewPr>
    <p:cSldViewPr snapToGrid="0">
      <p:cViewPr>
        <p:scale>
          <a:sx n="33" d="100"/>
          <a:sy n="33" d="100"/>
        </p:scale>
        <p:origin x="2558" y="119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FDA7E26-EFA0-45C4-AA48-DAFD4B8D21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2457914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DA7E26-EFA0-45C4-AA48-DAFD4B8D21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1348238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DA7E26-EFA0-45C4-AA48-DAFD4B8D21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42193811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DA7E26-EFA0-45C4-AA48-DAFD4B8D21FB}"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784814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DA7E26-EFA0-45C4-AA48-DAFD4B8D21FB}" type="datetimeFigureOut">
              <a:rPr lang="en-US" smtClean="0"/>
              <a:t>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3979445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FDA7E26-EFA0-45C4-AA48-DAFD4B8D21FB}" type="datetimeFigureOut">
              <a:rPr lang="en-US" smtClean="0"/>
              <a:t>2/5/2026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23307342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FDA7E26-EFA0-45C4-AA48-DAFD4B8D21FB}" type="datetimeFigureOut">
              <a:rPr lang="en-US" smtClean="0"/>
              <a:t>2/5/2026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2329582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FDA7E26-EFA0-45C4-AA48-DAFD4B8D21FB}" type="datetimeFigureOut">
              <a:rPr lang="en-US" smtClean="0"/>
              <a:t>2/5/2026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34523555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DA7E26-EFA0-45C4-AA48-DAFD4B8D21FB}"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20611888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FDA7E26-EFA0-45C4-AA48-DAFD4B8D21FB}" type="datetimeFigureOut">
              <a:rPr lang="en-US" smtClean="0"/>
              <a:t>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118505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FDA7E26-EFA0-45C4-AA48-DAFD4B8D21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37280204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FDA7E26-EFA0-45C4-AA48-DAFD4B8D21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AB634-EAF0-40D2-BDAF-132481ADDFA3}" type="slidenum">
              <a:rPr lang="en-US" smtClean="0"/>
              <a:t>‹#›</a:t>
            </a:fld>
            <a:endParaRPr lang="en-US"/>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9164604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FDA7E26-EFA0-45C4-AA48-DAFD4B8D21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14563791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FDA7E26-EFA0-45C4-AA48-DAFD4B8D21FB}" type="datetimeFigureOut">
              <a:rPr lang="en-US" smtClean="0"/>
              <a:t>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16361212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FDA7E26-EFA0-45C4-AA48-DAFD4B8D21FB}" type="datetimeFigureOut">
              <a:rPr lang="en-US" smtClean="0"/>
              <a:t>2/5/2026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25738029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DA7E26-EFA0-45C4-AA48-DAFD4B8D21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33048103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DA7E26-EFA0-45C4-AA48-DAFD4B8D21FB}" type="datetimeFigureOut">
              <a:rPr lang="en-US" smtClean="0"/>
              <a:t>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5FAB634-EAF0-40D2-BDAF-132481ADDFA3}" type="slidenum">
              <a:rPr lang="en-US" smtClean="0"/>
              <a:t>‹#›</a:t>
            </a:fld>
            <a:endParaRPr lang="en-US"/>
          </a:p>
        </p:txBody>
      </p:sp>
    </p:spTree>
    <p:extLst>
      <p:ext uri="{BB962C8B-B14F-4D97-AF65-F5344CB8AC3E}">
        <p14:creationId xmlns:p14="http://schemas.microsoft.com/office/powerpoint/2010/main" val="16463675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FDA7E26-EFA0-45C4-AA48-DAFD4B8D21FB}" type="datetimeFigureOut">
              <a:rPr lang="en-US" smtClean="0"/>
              <a:t>2/5/2026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75FAB634-EAF0-40D2-BDAF-132481ADDFA3}" type="slidenum">
              <a:rPr lang="en-US" smtClean="0"/>
              <a:t>‹#›</a:t>
            </a:fld>
            <a:endParaRPr lang="en-US"/>
          </a:p>
        </p:txBody>
      </p:sp>
    </p:spTree>
    <p:extLst>
      <p:ext uri="{BB962C8B-B14F-4D97-AF65-F5344CB8AC3E}">
        <p14:creationId xmlns:p14="http://schemas.microsoft.com/office/powerpoint/2010/main" val="228828696"/>
      </p:ext>
    </p:extLst>
  </p:cSld>
  <p:clrMap bg1="dk1" tx1="lt1" bg2="dk2" tx2="lt2" accent1="accent1" accent2="accent2" accent3="accent3" accent4="accent4" accent5="accent5" accent6="accent6" hlink="hlink" folHlink="folHlink"/>
  <p:sldLayoutIdLst>
    <p:sldLayoutId id="2147483768" r:id="rId1"/>
    <p:sldLayoutId id="2147483769" r:id="rId2"/>
    <p:sldLayoutId id="2147483770" r:id="rId3"/>
    <p:sldLayoutId id="2147483771" r:id="rId4"/>
    <p:sldLayoutId id="2147483772" r:id="rId5"/>
    <p:sldLayoutId id="2147483773" r:id="rId6"/>
    <p:sldLayoutId id="2147483774" r:id="rId7"/>
    <p:sldLayoutId id="2147483775" r:id="rId8"/>
    <p:sldLayoutId id="2147483776" r:id="rId9"/>
    <p:sldLayoutId id="2147483777" r:id="rId10"/>
    <p:sldLayoutId id="2147483778" r:id="rId11"/>
    <p:sldLayoutId id="2147483779" r:id="rId12"/>
    <p:sldLayoutId id="2147483780" r:id="rId13"/>
    <p:sldLayoutId id="2147483781" r:id="rId14"/>
    <p:sldLayoutId id="2147483782" r:id="rId15"/>
    <p:sldLayoutId id="2147483783" r:id="rId16"/>
    <p:sldLayoutId id="2147483784"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a:spLocks noGrp="1" noChangeArrowheads="1"/>
          </p:cNvSpPr>
          <p:nvPr>
            <p:ph type="ctrTitle"/>
          </p:nvPr>
        </p:nvSpPr>
        <p:spPr bwMode="auto">
          <a:xfrm>
            <a:off x="180623" y="361786"/>
            <a:ext cx="11842044" cy="3908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400" b="1" i="0" u="none" strike="noStrike" cap="none" normalizeH="0" baseline="0" dirty="0">
                <a:ln>
                  <a:noFill/>
                </a:ln>
                <a:solidFill>
                  <a:schemeClr val="tx1"/>
                </a:solidFill>
                <a:effectLst/>
                <a:latin typeface="Arial" panose="020B0604020202020204" pitchFamily="34" charset="0"/>
              </a:rPr>
              <a:t>Introduction to SQL</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SQL</a:t>
            </a:r>
            <a:r>
              <a:rPr kumimoji="0" lang="en-US" altLang="en-US" sz="1400" b="0" i="0" u="none" strike="noStrike" cap="none" normalizeH="0" baseline="0" dirty="0">
                <a:ln>
                  <a:noFill/>
                </a:ln>
                <a:solidFill>
                  <a:schemeClr val="tx1"/>
                </a:solidFill>
                <a:effectLst/>
                <a:latin typeface="Arial" panose="020B0604020202020204" pitchFamily="34" charset="0"/>
              </a:rPr>
              <a:t> (</a:t>
            </a:r>
            <a:r>
              <a:rPr kumimoji="0" lang="en-US" altLang="en-US" sz="2400" b="1" i="0" u="none" strike="noStrike" cap="none" normalizeH="0" baseline="0" dirty="0">
                <a:ln>
                  <a:noFill/>
                </a:ln>
                <a:solidFill>
                  <a:schemeClr val="tx1"/>
                </a:solidFill>
                <a:effectLst/>
                <a:latin typeface="Arial" panose="020B0604020202020204" pitchFamily="34" charset="0"/>
              </a:rPr>
              <a:t>Structured Query Language</a:t>
            </a:r>
            <a:r>
              <a:rPr kumimoji="0" lang="en-US" altLang="en-US" sz="2400" b="0" i="0" u="none" strike="noStrike" cap="none" normalizeH="0" baseline="0" dirty="0">
                <a:ln>
                  <a:noFill/>
                </a:ln>
                <a:solidFill>
                  <a:schemeClr val="tx1"/>
                </a:solidFill>
                <a:effectLst/>
                <a:latin typeface="Arial" panose="020B0604020202020204" pitchFamily="34" charset="0"/>
              </a:rPr>
              <a:t>) is a standard programming language used to </a:t>
            </a:r>
            <a:r>
              <a:rPr kumimoji="0" lang="en-US" altLang="en-US" sz="2400" b="1" i="0" u="none" strike="noStrike" cap="none" normalizeH="0" baseline="0" dirty="0">
                <a:ln>
                  <a:noFill/>
                </a:ln>
                <a:solidFill>
                  <a:schemeClr val="tx1"/>
                </a:solidFill>
                <a:effectLst/>
                <a:latin typeface="Arial" panose="020B0604020202020204" pitchFamily="34" charset="0"/>
              </a:rPr>
              <a:t>manage and manipulate relational databases</a:t>
            </a:r>
            <a:r>
              <a:rPr kumimoji="0" lang="en-US" altLang="en-US" sz="2400" b="0" i="0" u="none" strike="noStrike" cap="none" normalizeH="0" baseline="0" dirty="0">
                <a:ln>
                  <a:noFill/>
                </a:ln>
                <a:solidFill>
                  <a:schemeClr val="tx1"/>
                </a:solidFill>
                <a:effectLst/>
                <a:latin typeface="Arial" panose="020B0604020202020204" pitchFamily="34" charset="0"/>
              </a:rPr>
              <a:t>. It allows users 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Retrieve data</a:t>
            </a:r>
            <a:r>
              <a:rPr kumimoji="0" lang="en-US" altLang="en-US" sz="2400" b="0" i="0" u="none" strike="noStrike" cap="none" normalizeH="0" baseline="0" dirty="0">
                <a:ln>
                  <a:noFill/>
                </a:ln>
                <a:solidFill>
                  <a:schemeClr val="tx1"/>
                </a:solidFill>
                <a:effectLst/>
                <a:latin typeface="Arial" panose="020B0604020202020204" pitchFamily="34" charset="0"/>
              </a:rPr>
              <a:t> from databases using </a:t>
            </a:r>
            <a:r>
              <a:rPr kumimoji="0" lang="en-US" altLang="en-US" sz="1400" b="0" i="0" u="none" strike="noStrike" cap="none" normalizeH="0" baseline="0" dirty="0">
                <a:ln>
                  <a:noFill/>
                </a:ln>
                <a:solidFill>
                  <a:schemeClr val="tx1"/>
                </a:solidFill>
                <a:effectLst/>
                <a:latin typeface="Arial Unicode MS"/>
              </a:rPr>
              <a:t>SELECT</a:t>
            </a:r>
            <a:r>
              <a:rPr kumimoji="0" lang="en-US" altLang="en-US" sz="1800" b="0" i="0" u="none" strike="noStrike" cap="none" normalizeH="0" baseline="0" dirty="0">
                <a:ln>
                  <a:noFill/>
                </a:ln>
                <a:solidFill>
                  <a:schemeClr val="tx1"/>
                </a:solidFill>
                <a:effectLst/>
              </a:rPr>
              <a:t> queries.</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Insert, update, and delete</a:t>
            </a:r>
            <a:r>
              <a:rPr kumimoji="0" lang="en-US" altLang="en-US" sz="2400" b="0" i="0" u="none" strike="noStrike" cap="none" normalizeH="0" baseline="0" dirty="0">
                <a:ln>
                  <a:noFill/>
                </a:ln>
                <a:solidFill>
                  <a:schemeClr val="tx1"/>
                </a:solidFill>
                <a:effectLst/>
                <a:latin typeface="Arial" panose="020B0604020202020204" pitchFamily="34" charset="0"/>
              </a:rPr>
              <a:t> data with </a:t>
            </a:r>
            <a:r>
              <a:rPr kumimoji="0" lang="en-US" altLang="en-US" sz="1400" b="0" i="0" u="none" strike="noStrike" cap="none" normalizeH="0" baseline="0" dirty="0">
                <a:ln>
                  <a:noFill/>
                </a:ln>
                <a:solidFill>
                  <a:schemeClr val="tx1"/>
                </a:solidFill>
                <a:effectLst/>
                <a:latin typeface="Arial Unicode MS"/>
              </a:rPr>
              <a:t>INSERT</a:t>
            </a:r>
            <a:r>
              <a:rPr kumimoji="0" lang="en-US" altLang="en-US" sz="1800" b="0" i="0" u="none" strike="noStrike" cap="none" normalizeH="0" baseline="0" dirty="0">
                <a:ln>
                  <a:noFill/>
                </a:ln>
                <a:solidFill>
                  <a:schemeClr val="tx1"/>
                </a:solidFill>
                <a:effectLst/>
              </a:rPr>
              <a:t>, </a:t>
            </a:r>
            <a:r>
              <a:rPr kumimoji="0" lang="en-US" altLang="en-US" sz="1400" b="0" i="0" u="none" strike="noStrike" cap="none" normalizeH="0" baseline="0" dirty="0">
                <a:ln>
                  <a:noFill/>
                </a:ln>
                <a:solidFill>
                  <a:schemeClr val="tx1"/>
                </a:solidFill>
                <a:effectLst/>
                <a:latin typeface="Arial Unicode MS"/>
              </a:rPr>
              <a:t>UPDATE</a:t>
            </a:r>
            <a:r>
              <a:rPr kumimoji="0" lang="en-US" altLang="en-US" sz="1800" b="0" i="0" u="none" strike="noStrike" cap="none" normalizeH="0" baseline="0" dirty="0">
                <a:ln>
                  <a:noFill/>
                </a:ln>
                <a:solidFill>
                  <a:schemeClr val="tx1"/>
                </a:solidFill>
                <a:effectLst/>
              </a:rPr>
              <a:t>, </a:t>
            </a:r>
            <a:r>
              <a:rPr kumimoji="0" lang="en-US" altLang="en-US" sz="1400" b="0" i="0" u="none" strike="noStrike" cap="none" normalizeH="0" baseline="0" dirty="0">
                <a:ln>
                  <a:noFill/>
                </a:ln>
                <a:solidFill>
                  <a:schemeClr val="tx1"/>
                </a:solidFill>
                <a:effectLst/>
                <a:latin typeface="Arial Unicode MS"/>
              </a:rPr>
              <a:t>DELETE</a:t>
            </a:r>
            <a:r>
              <a:rPr kumimoji="0" lang="en-US" altLang="en-US" sz="1800" b="0" i="0" u="none" strike="noStrike" cap="none" normalizeH="0" baseline="0" dirty="0">
                <a:ln>
                  <a:noFill/>
                </a:ln>
                <a:solidFill>
                  <a:schemeClr val="tx1"/>
                </a:solidFill>
                <a:effectLst/>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Organize data</a:t>
            </a:r>
            <a:r>
              <a:rPr kumimoji="0" lang="en-US" altLang="en-US" sz="2400" b="0" i="0" u="none" strike="noStrike" cap="none" normalizeH="0" baseline="0" dirty="0">
                <a:ln>
                  <a:noFill/>
                </a:ln>
                <a:solidFill>
                  <a:schemeClr val="tx1"/>
                </a:solidFill>
                <a:effectLst/>
                <a:latin typeface="Arial" panose="020B0604020202020204" pitchFamily="34" charset="0"/>
              </a:rPr>
              <a:t> using filtering, sorting, grouping, and aggregate functions.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Analyze data</a:t>
            </a:r>
            <a:r>
              <a:rPr kumimoji="0" lang="en-US" altLang="en-US" sz="2400" b="0" i="0" u="none" strike="noStrike" cap="none" normalizeH="0" baseline="0" dirty="0">
                <a:ln>
                  <a:noFill/>
                </a:ln>
                <a:solidFill>
                  <a:schemeClr val="tx1"/>
                </a:solidFill>
                <a:effectLst/>
                <a:latin typeface="Arial" panose="020B0604020202020204" pitchFamily="34" charset="0"/>
              </a:rPr>
              <a:t> with functions like</a:t>
            </a:r>
            <a:r>
              <a:rPr kumimoji="0" lang="en-US" altLang="en-US" sz="3200" b="0" i="0" u="none" strike="noStrike" cap="none" normalizeH="0" baseline="0" dirty="0">
                <a:ln>
                  <a:noFill/>
                </a:ln>
                <a:solidFill>
                  <a:schemeClr val="tx1"/>
                </a:solidFill>
                <a:effectLst/>
                <a:latin typeface="Arial" panose="020B0604020202020204" pitchFamily="34" charset="0"/>
              </a:rPr>
              <a:t> </a:t>
            </a:r>
            <a:r>
              <a:rPr kumimoji="0" lang="en-US" altLang="en-US" sz="1400" b="0" i="0" u="none" strike="noStrike" cap="none" normalizeH="0" baseline="0" dirty="0">
                <a:ln>
                  <a:noFill/>
                </a:ln>
                <a:solidFill>
                  <a:schemeClr val="tx1"/>
                </a:solidFill>
                <a:effectLst/>
                <a:latin typeface="Arial Unicode MS"/>
              </a:rPr>
              <a:t>SUM</a:t>
            </a:r>
            <a:r>
              <a:rPr kumimoji="0" lang="en-US" altLang="en-US" sz="1800" b="0" i="0" u="none" strike="noStrike" cap="none" normalizeH="0" baseline="0" dirty="0">
                <a:ln>
                  <a:noFill/>
                </a:ln>
                <a:solidFill>
                  <a:schemeClr val="tx1"/>
                </a:solidFill>
                <a:effectLst/>
              </a:rPr>
              <a:t>, </a:t>
            </a:r>
            <a:r>
              <a:rPr kumimoji="0" lang="en-US" altLang="en-US" sz="1400" b="0" i="0" u="none" strike="noStrike" cap="none" normalizeH="0" baseline="0" dirty="0">
                <a:ln>
                  <a:noFill/>
                </a:ln>
                <a:solidFill>
                  <a:schemeClr val="tx1"/>
                </a:solidFill>
                <a:effectLst/>
                <a:latin typeface="Arial Unicode MS"/>
              </a:rPr>
              <a:t>COUNT</a:t>
            </a:r>
            <a:r>
              <a:rPr kumimoji="0" lang="en-US" altLang="en-US" sz="1800" b="0" i="0" u="none" strike="noStrike" cap="none" normalizeH="0" baseline="0" dirty="0">
                <a:ln>
                  <a:noFill/>
                </a:ln>
                <a:solidFill>
                  <a:schemeClr val="tx1"/>
                </a:solidFill>
                <a:effectLst/>
              </a:rPr>
              <a:t>, </a:t>
            </a:r>
            <a:r>
              <a:rPr kumimoji="0" lang="en-US" altLang="en-US" sz="1400" b="0" i="0" u="none" strike="noStrike" cap="none" normalizeH="0" baseline="0" dirty="0">
                <a:ln>
                  <a:noFill/>
                </a:ln>
                <a:solidFill>
                  <a:schemeClr val="tx1"/>
                </a:solidFill>
                <a:effectLst/>
                <a:latin typeface="Arial Unicode MS"/>
              </a:rPr>
              <a:t>AVG</a:t>
            </a:r>
            <a:r>
              <a:rPr kumimoji="0" lang="en-US" altLang="en-US" sz="1800" b="0" i="0" u="none" strike="noStrike" cap="none" normalizeH="0" baseline="0" dirty="0">
                <a:ln>
                  <a:noFill/>
                </a:ln>
                <a:solidFill>
                  <a:schemeClr val="tx1"/>
                </a:solidFill>
                <a:effectLst/>
              </a:rPr>
              <a:t> and clauses like </a:t>
            </a:r>
            <a:r>
              <a:rPr kumimoji="0" lang="en-US" altLang="en-US" sz="1400" b="0" i="0" u="none" strike="noStrike" cap="none" normalizeH="0" baseline="0" dirty="0">
                <a:ln>
                  <a:noFill/>
                </a:ln>
                <a:solidFill>
                  <a:schemeClr val="tx1"/>
                </a:solidFill>
                <a:effectLst/>
                <a:latin typeface="Arial Unicode MS"/>
              </a:rPr>
              <a:t>GROUP BY</a:t>
            </a:r>
            <a:r>
              <a:rPr kumimoji="0" lang="en-US" altLang="en-US" sz="1800" b="0" i="0" u="none" strike="noStrike" cap="none" normalizeH="0" baseline="0" dirty="0">
                <a:ln>
                  <a:noFill/>
                </a:ln>
                <a:solidFill>
                  <a:schemeClr val="tx1"/>
                </a:solidFill>
                <a:effectLst/>
              </a:rPr>
              <a:t> and </a:t>
            </a:r>
            <a:r>
              <a:rPr kumimoji="0" lang="en-US" altLang="en-US" sz="1400" b="0" i="0" u="none" strike="noStrike" cap="none" normalizeH="0" baseline="0" dirty="0">
                <a:ln>
                  <a:noFill/>
                </a:ln>
                <a:solidFill>
                  <a:schemeClr val="tx1"/>
                </a:solidFill>
                <a:effectLst/>
                <a:latin typeface="Arial Unicode MS"/>
              </a:rPr>
              <a:t>WITH ROLLUP</a:t>
            </a:r>
            <a:r>
              <a:rPr kumimoji="0" lang="en-US" altLang="en-US" sz="1800" b="0" i="0" u="none" strike="noStrike" cap="none" normalizeH="0" baseline="0" dirty="0">
                <a:ln>
                  <a:noFill/>
                </a:ln>
                <a:solidFill>
                  <a:schemeClr val="tx1"/>
                </a:solidFill>
                <a:effectLst/>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Create reports</a:t>
            </a:r>
            <a:r>
              <a:rPr kumimoji="0" lang="en-US" altLang="en-US" sz="2400" b="0" i="0" u="none" strike="noStrike" cap="none" normalizeH="0" baseline="0" dirty="0">
                <a:ln>
                  <a:noFill/>
                </a:ln>
                <a:solidFill>
                  <a:schemeClr val="tx1"/>
                </a:solidFill>
                <a:effectLst/>
                <a:latin typeface="Arial" panose="020B0604020202020204" pitchFamily="34" charset="0"/>
              </a:rPr>
              <a:t> and summaries for business insights.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tx1"/>
                </a:solidFill>
                <a:effectLst/>
                <a:latin typeface="Arial" panose="020B0604020202020204" pitchFamily="34" charset="0"/>
              </a:rPr>
              <a:t>SQL is widely used in </a:t>
            </a:r>
            <a:r>
              <a:rPr kumimoji="0" lang="en-US" altLang="en-US" sz="2400" b="1" i="0" u="none" strike="noStrike" cap="none" normalizeH="0" baseline="0" dirty="0">
                <a:ln>
                  <a:noFill/>
                </a:ln>
                <a:solidFill>
                  <a:schemeClr val="tx1"/>
                </a:solidFill>
                <a:effectLst/>
                <a:latin typeface="Arial" panose="020B0604020202020204" pitchFamily="34" charset="0"/>
              </a:rPr>
              <a:t>data analytics, business intelligence, and backend development</a:t>
            </a:r>
            <a:r>
              <a:rPr kumimoji="0" lang="en-US" altLang="en-US" sz="2400" b="0" i="0" u="none" strike="noStrike" cap="none" normalizeH="0" baseline="0" dirty="0">
                <a:ln>
                  <a:noFill/>
                </a:ln>
                <a:solidFill>
                  <a:schemeClr val="tx1"/>
                </a:solidFill>
                <a:effectLst/>
                <a:latin typeface="Arial" panose="020B0604020202020204" pitchFamily="34" charset="0"/>
              </a:rPr>
              <a:t>, making it a key skill for managing and analyzing data efficiently.</a:t>
            </a: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7245" y="4696097"/>
            <a:ext cx="1828800" cy="1828800"/>
          </a:xfrm>
          <a:prstGeom prst="rect">
            <a:avLst/>
          </a:prstGeom>
        </p:spPr>
      </p:pic>
    </p:spTree>
    <p:extLst>
      <p:ext uri="{BB962C8B-B14F-4D97-AF65-F5344CB8AC3E}">
        <p14:creationId xmlns:p14="http://schemas.microsoft.com/office/powerpoint/2010/main" val="2260570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0"/>
            <a:ext cx="12192000" cy="6858000"/>
          </a:xfrm>
        </p:spPr>
        <p:txBody>
          <a:bodyPr>
            <a:noAutofit/>
          </a:bodyPr>
          <a:lstStyle/>
          <a:p>
            <a:pPr marL="0" indent="0" algn="ctr">
              <a:buNone/>
            </a:pPr>
            <a:r>
              <a:rPr lang="en-US" sz="2400" b="1" dirty="0">
                <a:solidFill>
                  <a:schemeClr val="tx1"/>
                </a:solidFill>
              </a:rPr>
              <a:t>SQL PROJECT .1</a:t>
            </a:r>
          </a:p>
          <a:p>
            <a:r>
              <a:rPr lang="en-US" sz="2400" b="1" dirty="0">
                <a:solidFill>
                  <a:schemeClr val="tx1"/>
                </a:solidFill>
              </a:rPr>
              <a:t>PROBLEM .1</a:t>
            </a:r>
          </a:p>
          <a:p>
            <a:r>
              <a:rPr lang="en-US" sz="2000" dirty="0">
                <a:solidFill>
                  <a:schemeClr val="tx1"/>
                </a:solidFill>
              </a:rPr>
              <a:t>Top 5 Brand–Category Combinations by Order Count</a:t>
            </a:r>
          </a:p>
          <a:p>
            <a:r>
              <a:rPr lang="en-US" sz="2000" dirty="0">
                <a:solidFill>
                  <a:schemeClr val="tx1"/>
                </a:solidFill>
              </a:rPr>
              <a:t>Top 5 Brand + Category combinations that appear most frequently in the product table.</a:t>
            </a:r>
          </a:p>
          <a:p>
            <a:r>
              <a:rPr lang="en-US" sz="2400" b="1" dirty="0">
                <a:solidFill>
                  <a:schemeClr val="tx1"/>
                </a:solidFill>
              </a:rPr>
              <a:t>PROBLEM .2</a:t>
            </a:r>
          </a:p>
          <a:p>
            <a:r>
              <a:rPr lang="en-US" sz="2000" dirty="0">
                <a:solidFill>
                  <a:schemeClr val="tx1"/>
                </a:solidFill>
              </a:rPr>
              <a:t>Total Revenue by Brand and Category</a:t>
            </a:r>
          </a:p>
          <a:p>
            <a:r>
              <a:rPr lang="en-US" sz="2000" dirty="0">
                <a:solidFill>
                  <a:schemeClr val="tx1"/>
                </a:solidFill>
              </a:rPr>
              <a:t>This query calculates and lists the total revenue for each Brand and Category, ordered from highest to lowest.</a:t>
            </a:r>
          </a:p>
          <a:p>
            <a:r>
              <a:rPr lang="en-US" sz="2400" b="1" dirty="0">
                <a:solidFill>
                  <a:schemeClr val="tx1"/>
                </a:solidFill>
              </a:rPr>
              <a:t>PROBLEM .3</a:t>
            </a:r>
          </a:p>
          <a:p>
            <a:r>
              <a:rPr lang="en-US" sz="2000" dirty="0">
                <a:solidFill>
                  <a:schemeClr val="tx1"/>
                </a:solidFill>
              </a:rPr>
              <a:t>Brand-wise Sales Summary with Grand Total</a:t>
            </a:r>
          </a:p>
          <a:p>
            <a:r>
              <a:rPr lang="en-US" sz="2000" dirty="0">
                <a:solidFill>
                  <a:schemeClr val="tx1"/>
                </a:solidFill>
              </a:rPr>
              <a:t>This query shows the total number of products, total price, and average price for each brand, including a grand total at the end.</a:t>
            </a:r>
          </a:p>
          <a:p>
            <a:r>
              <a:rPr lang="en-US" sz="2400" b="1" dirty="0">
                <a:solidFill>
                  <a:schemeClr val="tx1"/>
                </a:solidFill>
              </a:rPr>
              <a:t>PROBLEM .4</a:t>
            </a:r>
          </a:p>
          <a:p>
            <a:r>
              <a:rPr lang="en-US" sz="2000" dirty="0">
                <a:solidFill>
                  <a:schemeClr val="tx1"/>
                </a:solidFill>
              </a:rPr>
              <a:t>Brand-wise Product Count for Jackets and Shoes</a:t>
            </a:r>
          </a:p>
          <a:p>
            <a:r>
              <a:rPr lang="en-US" sz="2000" dirty="0">
                <a:solidFill>
                  <a:schemeClr val="tx1"/>
                </a:solidFill>
              </a:rPr>
              <a:t>This query shows the total number of products for each brand in the JACKET and SHOES categories.</a:t>
            </a:r>
          </a:p>
          <a:p>
            <a:endParaRPr lang="en-US" sz="2000" dirty="0">
              <a:solidFill>
                <a:schemeClr val="tx1"/>
              </a:solidFill>
            </a:endParaRPr>
          </a:p>
          <a:p>
            <a:endParaRPr lang="en-US" sz="2000" dirty="0">
              <a:solidFill>
                <a:schemeClr val="tx1"/>
              </a:solidFill>
            </a:endParaRPr>
          </a:p>
        </p:txBody>
      </p:sp>
    </p:spTree>
    <p:extLst>
      <p:ext uri="{BB962C8B-B14F-4D97-AF65-F5344CB8AC3E}">
        <p14:creationId xmlns:p14="http://schemas.microsoft.com/office/powerpoint/2010/main" val="2668717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24083"/>
            <a:ext cx="11353800" cy="745067"/>
          </a:xfrm>
        </p:spPr>
        <p:txBody>
          <a:bodyPr>
            <a:normAutofit fontScale="90000"/>
          </a:bodyPr>
          <a:lstStyle/>
          <a:p>
            <a:pPr algn="l"/>
            <a:r>
              <a:rPr lang="en-US" sz="2000" b="1" dirty="0">
                <a:solidFill>
                  <a:schemeClr val="tx1"/>
                </a:solidFill>
              </a:rPr>
              <a:t>Top 5 Brand–Category Combinations by Order Count</a:t>
            </a:r>
            <a:br>
              <a:rPr lang="en-US" sz="2000" b="1" dirty="0">
                <a:solidFill>
                  <a:schemeClr val="tx1"/>
                </a:solidFill>
              </a:rPr>
            </a:br>
            <a:br>
              <a:rPr lang="en-US" sz="1300" dirty="0">
                <a:solidFill>
                  <a:schemeClr val="tx1"/>
                </a:solidFill>
              </a:rPr>
            </a:br>
            <a:r>
              <a:rPr lang="en-US" sz="1800" dirty="0">
                <a:solidFill>
                  <a:schemeClr val="tx1"/>
                </a:solidFill>
              </a:rPr>
              <a:t>Top 5 Brand + Category combinations that appear most frequently in the product table.</a:t>
            </a:r>
            <a:br>
              <a:rPr lang="en-US" sz="1200" dirty="0"/>
            </a:br>
            <a:endParaRPr lang="en-US" sz="12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961" y="1008616"/>
            <a:ext cx="4231259" cy="2114408"/>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05511" y="1008615"/>
            <a:ext cx="3948289" cy="2253873"/>
          </a:xfrm>
          <a:prstGeom prst="rect">
            <a:avLst/>
          </a:prstGeom>
        </p:spPr>
      </p:pic>
      <p:sp>
        <p:nvSpPr>
          <p:cNvPr id="7" name="Title 1"/>
          <p:cNvSpPr txBox="1">
            <a:spLocks/>
          </p:cNvSpPr>
          <p:nvPr/>
        </p:nvSpPr>
        <p:spPr>
          <a:xfrm>
            <a:off x="114962" y="3262489"/>
            <a:ext cx="11353800" cy="745067"/>
          </a:xfrm>
          <a:prstGeom prst="rect">
            <a:avLst/>
          </a:prstGeom>
        </p:spPr>
        <p:txBody>
          <a:bodyPr vert="horz" lIns="91440" tIns="45720" rIns="91440" bIns="45720" rtlCol="0" anchor="ctr">
            <a:normAutofit fontScale="2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sz="1800" b="1" dirty="0"/>
            </a:br>
            <a:br>
              <a:rPr lang="en-US" sz="5300" b="1" dirty="0"/>
            </a:br>
            <a:r>
              <a:rPr lang="en-US" sz="7200" b="1" dirty="0"/>
              <a:t>Total Revenue by Brand and Category</a:t>
            </a:r>
          </a:p>
          <a:p>
            <a:endParaRPr lang="en-US" sz="6400" b="1" dirty="0"/>
          </a:p>
          <a:p>
            <a:r>
              <a:rPr lang="en-US" sz="6400" dirty="0"/>
              <a:t>This query calculates and lists the total revenue for each Brand and Category, ordered from highest to lowest</a:t>
            </a:r>
            <a:r>
              <a:rPr lang="en-US" sz="4300" dirty="0"/>
              <a:t>.</a:t>
            </a:r>
          </a:p>
          <a:p>
            <a:r>
              <a:rPr lang="en-US" sz="1600" dirty="0"/>
              <a:t>.</a:t>
            </a:r>
            <a:br>
              <a:rPr lang="en-US" sz="1200" dirty="0"/>
            </a:br>
            <a:endParaRPr lang="en-US" sz="1200" dirty="0"/>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961" y="4147021"/>
            <a:ext cx="4231259" cy="1999136"/>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759338" y="4007556"/>
            <a:ext cx="3594462" cy="2850444"/>
          </a:xfrm>
          <a:prstGeom prst="rect">
            <a:avLst/>
          </a:prstGeom>
        </p:spPr>
      </p:pic>
    </p:spTree>
    <p:extLst>
      <p:ext uri="{BB962C8B-B14F-4D97-AF65-F5344CB8AC3E}">
        <p14:creationId xmlns:p14="http://schemas.microsoft.com/office/powerpoint/2010/main" val="2516944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 y="0"/>
            <a:ext cx="12191999" cy="653777"/>
          </a:xfrm>
        </p:spPr>
        <p:txBody>
          <a:bodyPr>
            <a:normAutofit fontScale="90000"/>
          </a:bodyPr>
          <a:lstStyle/>
          <a:p>
            <a:pPr algn="l"/>
            <a:r>
              <a:rPr lang="en-US" sz="2200" b="1" dirty="0">
                <a:solidFill>
                  <a:schemeClr val="tx1"/>
                </a:solidFill>
              </a:rPr>
              <a:t>Brand-wise Sales Summary with Grand Total</a:t>
            </a:r>
            <a:br>
              <a:rPr lang="en-US" sz="2200" b="1" dirty="0">
                <a:solidFill>
                  <a:schemeClr val="tx1"/>
                </a:solidFill>
              </a:rPr>
            </a:br>
            <a:br>
              <a:rPr lang="en-US" sz="2000" dirty="0">
                <a:solidFill>
                  <a:schemeClr val="tx1"/>
                </a:solidFill>
              </a:rPr>
            </a:br>
            <a:r>
              <a:rPr lang="en-US" sz="1800" dirty="0">
                <a:solidFill>
                  <a:schemeClr val="tx1"/>
                </a:solidFill>
              </a:rPr>
              <a:t>This query shows the total number of products, total price, and average price for each brand, including a grand total at the end</a:t>
            </a:r>
            <a:r>
              <a:rPr lang="en-US" sz="1400" dirty="0">
                <a:solidFill>
                  <a:schemeClr val="tx1"/>
                </a:solidFill>
              </a:rPr>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64168"/>
            <a:ext cx="4231882" cy="183271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71065" y="1164218"/>
            <a:ext cx="4404360" cy="1932668"/>
          </a:xfrm>
          <a:prstGeom prst="rect">
            <a:avLst/>
          </a:prstGeom>
        </p:spPr>
      </p:pic>
      <p:sp>
        <p:nvSpPr>
          <p:cNvPr id="7" name="Title 1"/>
          <p:cNvSpPr txBox="1">
            <a:spLocks/>
          </p:cNvSpPr>
          <p:nvPr/>
        </p:nvSpPr>
        <p:spPr>
          <a:xfrm>
            <a:off x="1" y="3274224"/>
            <a:ext cx="11275423" cy="784406"/>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Brand-wise Product Count for Jackets and Shoes</a:t>
            </a:r>
          </a:p>
          <a:p>
            <a:endParaRPr lang="en-US" sz="2000" b="1" dirty="0"/>
          </a:p>
          <a:p>
            <a:r>
              <a:rPr lang="en-US" sz="1600" dirty="0"/>
              <a:t>This query shows the total number of products for each brand in the JACKET and SHOES categories</a:t>
            </a:r>
            <a:r>
              <a:rPr lang="en-US" sz="1400" dirty="0"/>
              <a:t>.</a:t>
            </a:r>
          </a:p>
          <a:p>
            <a:endParaRPr lang="en-US" sz="1400" dirty="0"/>
          </a:p>
          <a:p>
            <a:endParaRPr lang="en-US" sz="1400" dirty="0"/>
          </a:p>
        </p:txBody>
      </p:sp>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5402" y="4058630"/>
            <a:ext cx="4096964" cy="2237667"/>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71065" y="4006144"/>
            <a:ext cx="4404360" cy="2851856"/>
          </a:xfrm>
          <a:prstGeom prst="rect">
            <a:avLst/>
          </a:prstGeom>
        </p:spPr>
      </p:pic>
    </p:spTree>
    <p:extLst>
      <p:ext uri="{BB962C8B-B14F-4D97-AF65-F5344CB8AC3E}">
        <p14:creationId xmlns:p14="http://schemas.microsoft.com/office/powerpoint/2010/main" val="19705301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0" y="9888"/>
            <a:ext cx="12192000" cy="6848112"/>
          </a:xfrm>
        </p:spPr>
        <p:txBody>
          <a:bodyPr>
            <a:normAutofit/>
          </a:bodyPr>
          <a:lstStyle/>
          <a:p>
            <a:pPr marL="0" indent="0" algn="ctr">
              <a:buNone/>
            </a:pPr>
            <a:r>
              <a:rPr lang="en-US" sz="2400" b="1" dirty="0">
                <a:solidFill>
                  <a:schemeClr val="tx1"/>
                </a:solidFill>
              </a:rPr>
              <a:t>SQL PROJECT .2</a:t>
            </a:r>
          </a:p>
          <a:p>
            <a:r>
              <a:rPr lang="en-US" sz="2400" b="1" dirty="0">
                <a:solidFill>
                  <a:schemeClr val="tx1"/>
                </a:solidFill>
              </a:rPr>
              <a:t>PROBLEM .1</a:t>
            </a:r>
          </a:p>
          <a:p>
            <a:r>
              <a:rPr lang="en-US" sz="2000" dirty="0">
                <a:solidFill>
                  <a:schemeClr val="tx1"/>
                </a:solidFill>
              </a:rPr>
              <a:t>Item-wise Maximum Price per Unit</a:t>
            </a:r>
          </a:p>
          <a:p>
            <a:r>
              <a:rPr lang="en-US" sz="2000" dirty="0">
                <a:solidFill>
                  <a:schemeClr val="tx1"/>
                </a:solidFill>
              </a:rPr>
              <a:t>This query shows the highest price per unit for each item from the café data.</a:t>
            </a:r>
          </a:p>
          <a:p>
            <a:r>
              <a:rPr lang="en-US" sz="2400" b="1" dirty="0">
                <a:solidFill>
                  <a:schemeClr val="tx1"/>
                </a:solidFill>
              </a:rPr>
              <a:t>PROBLEM .2</a:t>
            </a:r>
          </a:p>
          <a:p>
            <a:r>
              <a:rPr lang="en-US" sz="2000" dirty="0">
                <a:solidFill>
                  <a:schemeClr val="tx1"/>
                </a:solidFill>
              </a:rPr>
              <a:t>Item-wise Total Revenue</a:t>
            </a:r>
          </a:p>
          <a:p>
            <a:r>
              <a:rPr lang="en-US" sz="2000" dirty="0">
                <a:solidFill>
                  <a:schemeClr val="tx1"/>
                </a:solidFill>
              </a:rPr>
              <a:t>Shows total sales revenue for each item</a:t>
            </a:r>
          </a:p>
          <a:p>
            <a:r>
              <a:rPr lang="en-US" sz="2400" b="1" dirty="0">
                <a:solidFill>
                  <a:schemeClr val="tx1"/>
                </a:solidFill>
              </a:rPr>
              <a:t>PROBLEM .3</a:t>
            </a:r>
          </a:p>
          <a:p>
            <a:r>
              <a:rPr lang="en-US" sz="2000" dirty="0">
                <a:solidFill>
                  <a:schemeClr val="tx1"/>
                </a:solidFill>
              </a:rPr>
              <a:t>Top Selling Item (Most Orders)</a:t>
            </a:r>
          </a:p>
          <a:p>
            <a:r>
              <a:rPr lang="en-US" sz="2000" dirty="0">
                <a:solidFill>
                  <a:schemeClr val="tx1"/>
                </a:solidFill>
              </a:rPr>
              <a:t>Identifies the most ordered item in the café</a:t>
            </a:r>
          </a:p>
          <a:p>
            <a:r>
              <a:rPr lang="en-US" sz="2400" b="1" dirty="0">
                <a:solidFill>
                  <a:schemeClr val="tx1"/>
                </a:solidFill>
              </a:rPr>
              <a:t>PROBLEM .4</a:t>
            </a:r>
          </a:p>
          <a:p>
            <a:r>
              <a:rPr lang="en-US" sz="2000" dirty="0">
                <a:solidFill>
                  <a:schemeClr val="tx1"/>
                </a:solidFill>
              </a:rPr>
              <a:t>Overall Cafe Summary</a:t>
            </a:r>
          </a:p>
          <a:p>
            <a:r>
              <a:rPr lang="en-US" sz="2000" dirty="0">
                <a:solidFill>
                  <a:schemeClr val="tx1"/>
                </a:solidFill>
              </a:rPr>
              <a:t>Provides overall sales and order performance of the café</a:t>
            </a:r>
          </a:p>
          <a:p>
            <a:endParaRPr lang="en-US" sz="2000" dirty="0">
              <a:solidFill>
                <a:schemeClr val="tx1"/>
              </a:solidFill>
            </a:endParaRPr>
          </a:p>
          <a:p>
            <a:endParaRPr lang="en-US" sz="2000" dirty="0">
              <a:solidFill>
                <a:schemeClr val="tx1"/>
              </a:solidFill>
            </a:endParaRPr>
          </a:p>
          <a:p>
            <a:endParaRPr lang="en-US" sz="2000" dirty="0">
              <a:solidFill>
                <a:schemeClr val="tx1"/>
              </a:solidFill>
            </a:endParaRPr>
          </a:p>
        </p:txBody>
      </p:sp>
    </p:spTree>
    <p:extLst>
      <p:ext uri="{BB962C8B-B14F-4D97-AF65-F5344CB8AC3E}">
        <p14:creationId xmlns:p14="http://schemas.microsoft.com/office/powerpoint/2010/main" val="21408343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2192000" cy="783771"/>
          </a:xfrm>
        </p:spPr>
        <p:txBody>
          <a:bodyPr>
            <a:noAutofit/>
          </a:bodyPr>
          <a:lstStyle/>
          <a:p>
            <a:pPr algn="l"/>
            <a:r>
              <a:rPr lang="en-US" sz="2000" b="1" dirty="0">
                <a:solidFill>
                  <a:schemeClr val="tx1"/>
                </a:solidFill>
              </a:rPr>
              <a:t>Item-wise Maximum Price per Unit</a:t>
            </a:r>
            <a:br>
              <a:rPr lang="en-US" sz="1800" dirty="0">
                <a:solidFill>
                  <a:schemeClr val="tx1"/>
                </a:solidFill>
              </a:rPr>
            </a:br>
            <a:r>
              <a:rPr lang="en-US" sz="1800" dirty="0">
                <a:solidFill>
                  <a:schemeClr val="tx1"/>
                </a:solidFill>
              </a:rPr>
              <a:t>This query shows the highest price per unit for each item from the café data</a:t>
            </a:r>
            <a:r>
              <a:rPr lang="en-US" sz="1800" dirty="0"/>
              <a:t>.</a:t>
            </a:r>
            <a:br>
              <a:rPr lang="en-US" sz="1800" dirty="0"/>
            </a:br>
            <a:endParaRPr lang="en-US"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83771"/>
            <a:ext cx="4114800" cy="1881052"/>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37269" y="653143"/>
            <a:ext cx="3984171" cy="2397034"/>
          </a:xfrm>
          <a:prstGeom prst="rect">
            <a:avLst/>
          </a:prstGeom>
        </p:spPr>
      </p:pic>
      <p:sp>
        <p:nvSpPr>
          <p:cNvPr id="6" name="Title 1"/>
          <p:cNvSpPr txBox="1">
            <a:spLocks/>
          </p:cNvSpPr>
          <p:nvPr/>
        </p:nvSpPr>
        <p:spPr>
          <a:xfrm>
            <a:off x="0" y="3193869"/>
            <a:ext cx="12192000" cy="78377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Item-wise Total Revenue</a:t>
            </a:r>
          </a:p>
          <a:p>
            <a:r>
              <a:rPr lang="en-US" sz="1800" dirty="0"/>
              <a:t>Shows total sales revenue</a:t>
            </a:r>
            <a:r>
              <a:rPr lang="en-US" sz="2000" dirty="0"/>
              <a:t> </a:t>
            </a:r>
            <a:r>
              <a:rPr lang="en-US" sz="1800" dirty="0"/>
              <a:t>for each item</a:t>
            </a:r>
          </a:p>
          <a:p>
            <a:r>
              <a:rPr lang="en-US" sz="1800" dirty="0"/>
              <a:t>.</a:t>
            </a:r>
            <a:br>
              <a:rPr lang="en-US" sz="1800" dirty="0"/>
            </a:br>
            <a:endParaRPr lang="en-US" sz="1800" dirty="0"/>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990704"/>
            <a:ext cx="4114800" cy="1717765"/>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37269" y="3540035"/>
            <a:ext cx="3984171" cy="2788920"/>
          </a:xfrm>
          <a:prstGeom prst="rect">
            <a:avLst/>
          </a:prstGeom>
        </p:spPr>
      </p:pic>
    </p:spTree>
    <p:extLst>
      <p:ext uri="{BB962C8B-B14F-4D97-AF65-F5344CB8AC3E}">
        <p14:creationId xmlns:p14="http://schemas.microsoft.com/office/powerpoint/2010/main" val="13457501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9189"/>
            <a:ext cx="12192000" cy="770709"/>
          </a:xfrm>
        </p:spPr>
        <p:txBody>
          <a:bodyPr>
            <a:normAutofit/>
          </a:bodyPr>
          <a:lstStyle/>
          <a:p>
            <a:pPr algn="l"/>
            <a:r>
              <a:rPr lang="en-US" sz="2000" b="1" dirty="0">
                <a:solidFill>
                  <a:schemeClr val="tx1"/>
                </a:solidFill>
              </a:rPr>
              <a:t>Top Selling Item (Most Orders)</a:t>
            </a:r>
            <a:br>
              <a:rPr lang="en-US" sz="2000" dirty="0">
                <a:solidFill>
                  <a:schemeClr val="tx1"/>
                </a:solidFill>
              </a:rPr>
            </a:br>
            <a:r>
              <a:rPr lang="en-US" sz="1800" dirty="0">
                <a:solidFill>
                  <a:schemeClr val="tx1"/>
                </a:solidFill>
              </a:rPr>
              <a:t>Identifies the most ordered item in the café</a:t>
            </a:r>
            <a:endParaRPr lang="en-US" sz="2000" dirty="0">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15531"/>
            <a:ext cx="4206240" cy="214117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21040" y="915532"/>
            <a:ext cx="3148149" cy="2141178"/>
          </a:xfrm>
          <a:prstGeom prst="rect">
            <a:avLst/>
          </a:prstGeom>
        </p:spPr>
      </p:pic>
      <p:sp>
        <p:nvSpPr>
          <p:cNvPr id="6" name="Title 1"/>
          <p:cNvSpPr txBox="1">
            <a:spLocks/>
          </p:cNvSpPr>
          <p:nvPr/>
        </p:nvSpPr>
        <p:spPr>
          <a:xfrm>
            <a:off x="0" y="3371349"/>
            <a:ext cx="12192000" cy="77070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000" b="1" dirty="0"/>
              <a:t>Overall Cafe Summary</a:t>
            </a:r>
          </a:p>
          <a:p>
            <a:r>
              <a:rPr lang="en-US" sz="1800" dirty="0"/>
              <a:t>Provides overall sales and order performance of the café</a:t>
            </a:r>
          </a:p>
          <a:p>
            <a:endParaRPr lang="en-US" sz="2000" dirty="0"/>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80960" y="4142058"/>
            <a:ext cx="3788229" cy="1657851"/>
          </a:xfrm>
          <a:prstGeom prst="rect">
            <a:avLst/>
          </a:prstGeom>
        </p:spPr>
      </p:pic>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4142058"/>
            <a:ext cx="4206240" cy="2639829"/>
          </a:xfrm>
          <a:prstGeom prst="rect">
            <a:avLst/>
          </a:prstGeom>
        </p:spPr>
      </p:pic>
    </p:spTree>
    <p:extLst>
      <p:ext uri="{BB962C8B-B14F-4D97-AF65-F5344CB8AC3E}">
        <p14:creationId xmlns:p14="http://schemas.microsoft.com/office/powerpoint/2010/main" val="101618917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117</TotalTime>
  <Words>494</Words>
  <Application>Microsoft Office PowerPoint</Application>
  <PresentationFormat>Widescreen</PresentationFormat>
  <Paragraphs>51</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Arial Unicode MS</vt:lpstr>
      <vt:lpstr>Century Gothic</vt:lpstr>
      <vt:lpstr>Wingdings 3</vt:lpstr>
      <vt:lpstr>Ion</vt:lpstr>
      <vt:lpstr>Introduction to SQL SQL (Structured Query Language) is a standard programming language used to manage and manipulate relational databases. It allows users to: Retrieve data from databases using SELECT queries. Insert, update, and delete data with INSERT, UPDATE, DELETE. Organize data using filtering, sorting, grouping, and aggregate functions. Analyze data with functions like SUM, COUNT, AVG and clauses like GROUP BY and WITH ROLLUP. Create reports and summaries for business insights. SQL is widely used in data analytics, business intelligence, and backend development, making it a key skill for managing and analyzing data efficiently.</vt:lpstr>
      <vt:lpstr>PowerPoint Presentation</vt:lpstr>
      <vt:lpstr>Top 5 Brand–Category Combinations by Order Count  Top 5 Brand + Category combinations that appear most frequently in the product table. </vt:lpstr>
      <vt:lpstr>Brand-wise Sales Summary with Grand Total  This query shows the total number of products, total price, and average price for each brand, including a grand total at the end.</vt:lpstr>
      <vt:lpstr>PowerPoint Presentation</vt:lpstr>
      <vt:lpstr>Item-wise Maximum Price per Unit This query shows the highest price per unit for each item from the café data. </vt:lpstr>
      <vt:lpstr>Top Selling Item (Most Orders) Identifies the most ordered item in the café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SQL SQL (Structured Query Language) is a standard programming language used to manage and manipulate relational databases. It allows users to: Retrieve data from databases using SELECT queries. Insert, update, and delete data with INSERT, UPDATE, DELETE. Organize data using filtering, sorting, grouping, and aggregate functions. Analyze data with functions like SUM, COUNT, AVG and clauses like GROUP BY and WITH ROLLUP. Create reports and summaries for business insights. SQL is widely used in data analytics, business intelligence, and backend development, making it a key skill for managing and analyzing data efficiently.</dc:title>
  <dc:creator>lenovo</dc:creator>
  <cp:lastModifiedBy>muhammad umer</cp:lastModifiedBy>
  <cp:revision>13</cp:revision>
  <dcterms:created xsi:type="dcterms:W3CDTF">2026-01-30T11:21:08Z</dcterms:created>
  <dcterms:modified xsi:type="dcterms:W3CDTF">2026-02-05T12:56:21Z</dcterms:modified>
</cp:coreProperties>
</file>